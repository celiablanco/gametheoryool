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560320"/>
            <a:ext cx="73152" cy="16459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D97757"/>
                </a:solidFill>
                <a:latin typeface="Calibri"/>
              </a:rPr>
              <a:t>ORIGIN OF LIFE  · 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AF6F0"/>
                </a:solidFill>
                <a:latin typeface="Georgia"/>
              </a:rPr>
              <a:t>From Rule-Taking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1">
                <a:solidFill>
                  <a:srgbClr val="FAF6F0"/>
                </a:solidFill>
                <a:latin typeface="Georgia"/>
              </a:rPr>
              <a:t>to Rule-Making Chemistry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09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E7DDCE"/>
                </a:solidFill>
                <a:latin typeface="Calibri"/>
              </a:rPr>
              <a:t>A minimal population–environment feedback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989320"/>
            <a:ext cx="548640" cy="274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80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6F0"/>
                </a:solidFill>
                <a:latin typeface="Calibri"/>
              </a:rPr>
              <a:t>Celia Blanco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Centro de Astrobiología  ·  CSIC–INTA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1A2332"/>
                </a:solidFill>
                <a:latin typeface="Georgia"/>
              </a:rPr>
              <a:t>When does chemistry stop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1A2332"/>
                </a:solidFill>
                <a:latin typeface="Georgia"/>
              </a:rPr>
              <a:t>adapting to its conditions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1">
                <a:solidFill>
                  <a:srgbClr val="D97757"/>
                </a:solidFill>
                <a:latin typeface="Georgia"/>
              </a:rPr>
              <a:t>and start authoring them?</a:t>
            </a:r>
          </a:p>
        </p:txBody>
      </p:sp>
      <p:sp>
        <p:nvSpPr>
          <p:cNvPr id="9" name="Rectangle 8"/>
          <p:cNvSpPr/>
          <p:nvPr/>
        </p:nvSpPr>
        <p:spPr>
          <a:xfrm>
            <a:off x="5730087" y="5120640"/>
            <a:ext cx="731520" cy="274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>Classical origin-of-life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272887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73152" cy="3840480"/>
          </a:xfrm>
          <a:prstGeom prst="rect">
            <a:avLst/>
          </a:prstGeom>
          <a:solidFill>
            <a:srgbClr val="4F8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9528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4F88B5"/>
                </a:solidFill>
                <a:latin typeface="Calibri"/>
              </a:rPr>
              <a:t>WELL STUDIED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332"/>
                </a:solidFill>
                <a:latin typeface="Georgia"/>
              </a:rPr>
              <a:t>Replicators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4952847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33A44"/>
                </a:solidFill>
                <a:latin typeface="Calibri"/>
              </a:rPr>
              <a:t>Autocatalytic sets</a:t>
            </a:r>
          </a:p>
          <a:p>
            <a:pPr algn="l"/>
            <a:r>
              <a:rPr sz="1800" b="0" i="0">
                <a:solidFill>
                  <a:srgbClr val="333A44"/>
                </a:solidFill>
                <a:latin typeface="Calibri"/>
              </a:rPr>
              <a:t>Hypercycles</a:t>
            </a:r>
          </a:p>
          <a:p>
            <a:pPr algn="l"/>
            <a:r>
              <a:rPr sz="1800" b="0" i="0">
                <a:solidFill>
                  <a:srgbClr val="333A44"/>
                </a:solidFill>
                <a:latin typeface="Calibri"/>
              </a:rPr>
              <a:t>Protocells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49240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Fidelity, replication, inheritance.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194560"/>
            <a:ext cx="5272887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2194560"/>
            <a:ext cx="73152" cy="38404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2514600"/>
            <a:ext cx="49528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USUALLY FIXED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880360"/>
            <a:ext cx="49528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2332"/>
                </a:solidFill>
                <a:latin typeface="Georgia"/>
              </a:rPr>
              <a:t>The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3657600"/>
            <a:ext cx="4952847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333A44"/>
                </a:solidFill>
                <a:latin typeface="Calibri"/>
              </a:rPr>
              <a:t>Reaction conditions imposed externally</a:t>
            </a:r>
          </a:p>
          <a:p>
            <a:pPr algn="l"/>
            <a:r>
              <a:rPr sz="1800" b="0" i="0">
                <a:solidFill>
                  <a:srgbClr val="333A44"/>
                </a:solidFill>
                <a:latin typeface="Calibri"/>
              </a:rPr>
              <a:t>Not shaped by the chemistry it hosts</a:t>
            </a:r>
          </a:p>
          <a:p>
            <a:pPr algn="l"/>
            <a:r>
              <a:rPr sz="1800" b="0" i="0">
                <a:solidFill>
                  <a:srgbClr val="333A44"/>
                </a:solidFill>
                <a:latin typeface="Calibri"/>
              </a:rPr>
              <a:t>No feedback into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5349240"/>
            <a:ext cx="49528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But life is defined by reshaping its surroundings.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THE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>Two chemistries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 / 14</a:t>
            </a:r>
          </a:p>
        </p:txBody>
      </p:sp>
      <p:pic>
        <p:nvPicPr>
          <p:cNvPr id="6" name="Picture 5" descr="concept_cart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920240"/>
            <a:ext cx="10058400" cy="35195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333A44"/>
                </a:solidFill>
                <a:latin typeface="Calibri"/>
              </a:rPr>
              <a:t>Rule-takers (R) depend on the environment.  Rule-makers (M) reshape it — at a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>Minimal coupling: population ↔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 / 14</a:t>
            </a:r>
          </a:p>
        </p:txBody>
      </p:sp>
      <p:sp>
        <p:nvSpPr>
          <p:cNvPr id="6" name="Oval 5"/>
          <p:cNvSpPr/>
          <p:nvPr/>
        </p:nvSpPr>
        <p:spPr>
          <a:xfrm>
            <a:off x="5227624" y="1920239"/>
            <a:ext cx="1737360" cy="17373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27624" y="1828799"/>
            <a:ext cx="1737360" cy="1143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7624" y="283463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environment</a:t>
            </a:r>
          </a:p>
        </p:txBody>
      </p:sp>
      <p:sp>
        <p:nvSpPr>
          <p:cNvPr id="9" name="Oval 8"/>
          <p:cNvSpPr/>
          <p:nvPr/>
        </p:nvSpPr>
        <p:spPr>
          <a:xfrm>
            <a:off x="1536192" y="4325112"/>
            <a:ext cx="1499616" cy="1499616"/>
          </a:xfrm>
          <a:prstGeom prst="ellipse">
            <a:avLst/>
          </a:prstGeom>
          <a:solidFill>
            <a:srgbClr val="4F8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4325112"/>
            <a:ext cx="1499616" cy="149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R</a:t>
            </a:r>
          </a:p>
        </p:txBody>
      </p:sp>
      <p:sp>
        <p:nvSpPr>
          <p:cNvPr id="11" name="Oval 10"/>
          <p:cNvSpPr/>
          <p:nvPr/>
        </p:nvSpPr>
        <p:spPr>
          <a:xfrm>
            <a:off x="9153144" y="4325112"/>
            <a:ext cx="1499616" cy="1499616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3144" y="4325112"/>
            <a:ext cx="1499616" cy="149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161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  <a:latin typeface="Calibri"/>
              </a:rPr>
              <a:t>rule-taker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087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fraction 1 –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59161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  <a:latin typeface="Calibri"/>
              </a:rPr>
              <a:t>rule-maker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62087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fraction y  ·  pays cost c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6991661" y="2985290"/>
            <a:ext cx="2419128" cy="1452756"/>
          </a:xfrm>
          <a:prstGeom prst="line">
            <a:avLst/>
          </a:prstGeom>
          <a:ln w="31750">
            <a:solidFill>
              <a:srgbClr val="D977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690375" y="3486992"/>
            <a:ext cx="2419128" cy="1452756"/>
          </a:xfrm>
          <a:prstGeom prst="line">
            <a:avLst/>
          </a:prstGeom>
          <a:ln w="31750">
            <a:solidFill>
              <a:srgbClr val="4F88B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62094" y="3145715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97757"/>
                </a:solidFill>
                <a:latin typeface="Calibri"/>
              </a:rPr>
              <a:t>produces  (α)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8750" y="4450139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4F88B5"/>
                </a:solidFill>
                <a:latin typeface="Calibri"/>
              </a:rPr>
              <a:t>enhances  (p)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928968" y="3235825"/>
            <a:ext cx="2422434" cy="1453344"/>
          </a:xfrm>
          <a:prstGeom prst="line">
            <a:avLst/>
          </a:prstGeom>
          <a:ln w="20320">
            <a:solidFill>
              <a:srgbClr val="6B7280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536017" y="3562673"/>
            <a:ext cx="2926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no effect on R’s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R sits in E but ignores it (π_R = 1).   Only M’s replication rate responds to 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THE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>Two coupled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377440"/>
            <a:ext cx="88696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0" y="2377440"/>
            <a:ext cx="73152" cy="27432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27889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B7280"/>
                </a:solidFill>
                <a:latin typeface="Calibri"/>
              </a:rPr>
              <a:t>POPULATION    (replicator equation)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1546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1">
                <a:solidFill>
                  <a:srgbClr val="1A2332"/>
                </a:solidFill>
                <a:latin typeface="Georgia"/>
              </a:rPr>
              <a:t>ẏ  =  y (1 – y) · ( s – c + p E – 1 )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4069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B7280"/>
                </a:solidFill>
                <a:latin typeface="Calibri"/>
              </a:rPr>
              <a:t>ENVIRONMENT    (production – decay)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43484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1">
                <a:solidFill>
                  <a:srgbClr val="1A2332"/>
                </a:solidFill>
                <a:latin typeface="Georgia"/>
              </a:rPr>
              <a:t>Ė  =  α y  –  β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333A44"/>
                </a:solidFill>
                <a:latin typeface="Calibri"/>
              </a:rPr>
              <a:t>M produces E.  A larger E raises M’s replication rate — more M, more 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THE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>One number controls the regime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1">
                <a:solidFill>
                  <a:srgbClr val="1A2332"/>
                </a:solidFill>
                <a:latin typeface="Georgia"/>
              </a:rPr>
              <a:t>p</a:t>
            </a:r>
            <a:r>
              <a:rPr sz="3400" b="1" i="1" baseline="-25000">
                <a:solidFill>
                  <a:srgbClr val="1A2332"/>
                </a:solidFill>
                <a:latin typeface="Georgia"/>
              </a:rPr>
              <a:t>eff</a:t>
            </a:r>
            <a:r>
              <a:rPr sz="3400" b="1" i="1">
                <a:solidFill>
                  <a:srgbClr val="1A2332"/>
                </a:solidFill>
                <a:latin typeface="Georgia"/>
              </a:rPr>
              <a:t>  =  p α / β       &gt;       p</a:t>
            </a:r>
            <a:r>
              <a:rPr sz="3400" b="1" i="1" baseline="-25000">
                <a:solidFill>
                  <a:srgbClr val="1A2332"/>
                </a:solidFill>
                <a:latin typeface="Georgia"/>
              </a:rPr>
              <a:t>c</a:t>
            </a:r>
            <a:r>
              <a:rPr sz="3400" b="1" i="1">
                <a:solidFill>
                  <a:srgbClr val="1A2332"/>
                </a:solidFill>
                <a:latin typeface="Georgia"/>
              </a:rPr>
              <a:t>  =  c + 1 –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D97757"/>
                </a:solidFill>
                <a:latin typeface="Calibri"/>
              </a:rPr>
              <a:t>EFFECTIVE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3434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33A44"/>
                </a:solidFill>
                <a:latin typeface="Calibri"/>
              </a:rPr>
              <a:t>how strongly modifiers help,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6177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33A44"/>
                </a:solidFill>
                <a:latin typeface="Calibri"/>
              </a:rPr>
              <a:t>weighted by how long they last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3931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4F88B5"/>
                </a:solidFill>
                <a:latin typeface="Calibri"/>
              </a:rPr>
              <a:t>COST BARRIER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43434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33A44"/>
                </a:solidFill>
                <a:latin typeface="Calibri"/>
              </a:rPr>
              <a:t>what rule-makers give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6655" y="46177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333A44"/>
                </a:solidFill>
                <a:latin typeface="Calibri"/>
              </a:rPr>
              <a:t>to modify the environment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30087" y="5760720"/>
            <a:ext cx="731520" cy="274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1">
                <a:solidFill>
                  <a:srgbClr val="1A2332"/>
                </a:solidFill>
                <a:latin typeface="Georgia"/>
              </a:rPr>
              <a:t>Cross it, and a second stable state appears.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PHASE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>Cost versus feedback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8 / 14</a:t>
            </a:r>
          </a:p>
        </p:txBody>
      </p:sp>
      <p:pic>
        <p:nvPicPr>
          <p:cNvPr id="6" name="Picture 5" descr="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1920240"/>
            <a:ext cx="5852160" cy="409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103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ABOVE THE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332"/>
                </a:solidFill>
                <a:latin typeface="Georgia"/>
              </a:rPr>
              <a:t>Rule-takers and rule-makers each form a stable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4F88B5"/>
                </a:solidFill>
                <a:latin typeface="Calibri"/>
              </a:rPr>
              <a:t>BELOW THE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79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332"/>
                </a:solidFill>
                <a:latin typeface="Georgia"/>
              </a:rPr>
              <a:t>Only rule-taking persists — modifiers can’t pay for themselves.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Stronger feedback compensates for higher cost — linearly.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>A saddle divides the basin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 / 14</a:t>
            </a:r>
          </a:p>
        </p:txBody>
      </p:sp>
      <p:pic>
        <p:nvPicPr>
          <p:cNvPr id="6" name="Picture 5" descr="2D_nullc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1828800"/>
            <a:ext cx="5486400" cy="39006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0116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TWO ATTRACTORS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332"/>
                </a:solidFill>
                <a:latin typeface="Georgia"/>
              </a:rPr>
              <a:t>A₁ = rule-takers only.   A₂ = rule-makers dominate.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4F88B5"/>
                </a:solidFill>
                <a:latin typeface="Calibri"/>
              </a:rPr>
              <a:t>ONE SADDLE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2332"/>
                </a:solidFill>
                <a:latin typeface="Georgia"/>
              </a:rPr>
              <a:t>Its stable manifold draws the separatrix between the two fates.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CASE 1 — NO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>Composition alone decides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10 / 14</a:t>
            </a:r>
          </a:p>
        </p:txBody>
      </p:sp>
      <p:pic>
        <p:nvPicPr>
          <p:cNvPr id="6" name="Picture 5" descr="timeseries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965960"/>
            <a:ext cx="8595360" cy="37604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333A44"/>
                </a:solidFill>
                <a:latin typeface="Calibri"/>
              </a:rPr>
              <a:t>When the environment relaxes instantly, only a sharp frequency threshold matters.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CASE 2 — ENVIRONMENTAL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>History reshapes the basin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11 / 14</a:t>
            </a:r>
          </a:p>
        </p:txBody>
      </p:sp>
      <p:pic>
        <p:nvPicPr>
          <p:cNvPr id="6" name="Picture 5" descr="extended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965960"/>
            <a:ext cx="9692640" cy="38770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333A44"/>
                </a:solidFill>
                <a:latin typeface="Calibri"/>
              </a:rPr>
              <a:t>Because E remembers, a favourable past lets even rare rule-makers invade.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CHEMICAL REALIZATION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>Same dynamics, real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12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44805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73152" cy="42062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39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97757"/>
                </a:solidFill>
                <a:latin typeface="Calibri"/>
              </a:rPr>
              <a:t>MINIMAL REACTION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  <a:latin typeface="Georgia"/>
              </a:rPr>
              <a:t>R + S  →  2R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rule-taker replication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  <a:latin typeface="Georgia"/>
              </a:rPr>
              <a:t>M + S  →  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931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rule-maker replication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8496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  <a:latin typeface="Georgia"/>
              </a:rPr>
              <a:t>M + S + B  →  2M +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modifier-assisted (catalytic)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26864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  <a:latin typeface="Georgia"/>
              </a:rPr>
              <a:t>M + S  →  M +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5604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modifier production (costly)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  <a:latin typeface="Georgia"/>
              </a:rPr>
              <a:t>B  →  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1441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modifier decay</a:t>
            </a:r>
          </a:p>
        </p:txBody>
      </p:sp>
      <p:pic>
        <p:nvPicPr>
          <p:cNvPr id="19" name="Picture 18" descr="chemical_feedback_two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55" y="2660903"/>
            <a:ext cx="6583680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97757"/>
                </a:solidFill>
                <a:latin typeface="Calibri"/>
              </a:rPr>
              <a:t>TAKE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2332"/>
                </a:solidFill>
                <a:latin typeface="Georgia"/>
              </a:rPr>
              <a:t>Three ideas to keep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13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423818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73152" cy="40233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79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1">
                <a:solidFill>
                  <a:srgbClr val="D97757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39"/>
            <a:ext cx="296661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2332"/>
                </a:solidFill>
                <a:latin typeface="Georgia"/>
              </a:rPr>
              <a:t>Persistence creates inheritance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296661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3A44"/>
                </a:solidFill>
                <a:latin typeface="Calibri"/>
              </a:rPr>
              <a:t>Modifiers that outlast a generation transmit conditions, not genes — a chemistry-level form of heredity.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3938" y="2103120"/>
            <a:ext cx="3423818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3938" y="2103120"/>
            <a:ext cx="73152" cy="4023360"/>
          </a:xfrm>
          <a:prstGeom prst="rect">
            <a:avLst/>
          </a:prstGeom>
          <a:solidFill>
            <a:srgbClr val="4F8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8258" y="2468879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1">
                <a:solidFill>
                  <a:srgbClr val="4F88B5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3291839"/>
            <a:ext cx="296661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2332"/>
                </a:solidFill>
                <a:latin typeface="Georgia"/>
              </a:rPr>
              <a:t>History opens basins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4572000"/>
            <a:ext cx="296661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3A44"/>
                </a:solidFill>
                <a:latin typeface="Calibri"/>
              </a:rPr>
              <a:t>A favourable environment lowers the threshold for rule-makers — even when they start rare.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2103120"/>
            <a:ext cx="3423818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2103120"/>
            <a:ext cx="73152" cy="402336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2116" y="2468879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1">
                <a:solidFill>
                  <a:srgbClr val="1A2332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3291839"/>
            <a:ext cx="296661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2332"/>
                </a:solidFill>
                <a:latin typeface="Georgia"/>
              </a:rPr>
              <a:t>Autonomy is conditional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2116" y="4572000"/>
            <a:ext cx="296661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3A44"/>
                </a:solidFill>
                <a:latin typeface="Calibri"/>
              </a:rPr>
              <a:t>Bistability is not guaranteed: feedback must be strong, persistent, and seeded by the right history.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560320"/>
            <a:ext cx="73152" cy="16459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Calibri"/>
              </a:rPr>
              <a:t>CLOSING 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AF6F0"/>
                </a:solidFill>
                <a:latin typeface="Georgia"/>
              </a:rPr>
              <a:t>Replication makes a chemistry persist.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FAF6F0"/>
                </a:solidFill>
                <a:latin typeface="Georgia"/>
              </a:rPr>
              <a:t>Feedback lets it set the conditions for its own persistence.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E7DDCE"/>
                </a:solidFill>
                <a:latin typeface="Calibri"/>
              </a:rPr>
              <a:t>That second step is rare — and may be where chemistry began to look like life.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989320"/>
            <a:ext cx="548640" cy="274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080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AF6F0"/>
                </a:solidFill>
                <a:latin typeface="Calibri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celia.blanco@cab.inta-csic.es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